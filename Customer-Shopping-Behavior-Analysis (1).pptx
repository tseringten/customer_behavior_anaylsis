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Kanit Thin"/>
      <p:regular r:id="rId201314"/>
    </p:embeddedFont>
    <p:embeddedFont>
      <p:font typeface="Kanit ExtraLight"/>
      <p:regular r:id="rId201315"/>
    </p:embeddedFont>
    <p:embeddedFont>
      <p:font typeface="Kanit Bold"/>
      <p:regular r:id="rId201316"/>
    </p:embeddedFont>
    <p:embeddedFont>
      <p:font typeface="Kanit ExtraBold"/>
      <p:regular r:id="rId201317"/>
    </p:embeddedFont>
    <p:embeddedFont>
      <p:font typeface="Kanit Black"/>
      <p:regular r:id="rId201318"/>
    </p:embeddedFont>
    <p:embeddedFont>
      <p:font typeface="Kanit Light"/>
      <p:regular r:id="rId201319"/>
    </p:embeddedFont>
    <p:embeddedFont>
      <p:font typeface="Kanit"/>
      <p:regular r:id="rId201320"/>
    </p:embeddedFont>
    <p:embeddedFont>
      <p:font typeface="Kanit Medium"/>
      <p:regular r:id="rId201321"/>
    </p:embeddedFont>
    <p:embeddedFont>
      <p:font typeface="Kanit SemiBold"/>
      <p:regular r:id="rId201322"/>
    </p:embeddedFont>
    <p:embeddedFont>
      <p:font typeface="Martel Sans ExtraLight"/>
      <p:regular r:id="rId201323"/>
    </p:embeddedFont>
    <p:embeddedFont>
      <p:font typeface="Martel Sans Light"/>
      <p:regular r:id="rId201324"/>
    </p:embeddedFont>
    <p:embeddedFont>
      <p:font typeface="Martel Sans"/>
      <p:regular r:id="rId201325"/>
    </p:embeddedFont>
    <p:embeddedFont>
      <p:font typeface="Martel Sans SemiBold"/>
      <p:regular r:id="rId201326"/>
    </p:embeddedFont>
    <p:embeddedFont>
      <p:font typeface="Martel Sans Bold"/>
      <p:regular r:id="rId201327"/>
    </p:embeddedFont>
    <p:embeddedFont>
      <p:font typeface="Martel Sans ExtraBold"/>
      <p:regular r:id="rId201328"/>
    </p:embeddedFont>
    <p:embeddedFont>
      <p:font typeface="Martel Sans Black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Uncovering spending patterns, customer segments, and product preferences from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to guide strategic business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6329"/>
            <a:ext cx="39459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Project Overview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25253"/>
            <a:ext cx="5179516" cy="293503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01717" y="1192932"/>
            <a:ext cx="2650927" cy="89401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36494" y="1351508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Dataset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236494" y="1706910"/>
            <a:ext cx="22575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3,900 purchases · 18 columns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1717" y="2224311"/>
            <a:ext cx="2650927" cy="13369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36494" y="2382887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Goal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236494" y="2738289"/>
            <a:ext cx="2257574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Spending patterns, segments, product preferences &amp; subscription behavior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01717" y="3698602"/>
            <a:ext cx="2650927" cy="89401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36494" y="3857179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Tools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6236494" y="4212580"/>
            <a:ext cx="22575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Python · SQL · PowerBI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1125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Dataset Summary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037755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218427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Demographics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490788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Age, gender, location, subscription status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2037755"/>
            <a:ext cx="4005039" cy="826368"/>
          </a:xfrm>
          <a:prstGeom prst="roundRect">
            <a:avLst>
              <a:gd name="adj" fmla="val 7205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9363" y="218427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Purchase Details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9363" y="2490788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Item, category, amount, season, size, color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005882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640" y="315240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Shopping Behavior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2640" y="3458914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Discount, frequency, review rating, shipping type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3005882"/>
            <a:ext cx="4005039" cy="826368"/>
          </a:xfrm>
          <a:prstGeom prst="roundRect">
            <a:avLst>
              <a:gd name="adj" fmla="val 7205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9363" y="315240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Quality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9363" y="3458914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37 missing values in Review Rating column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5036"/>
            <a:ext cx="4237062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 Preparation in Python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18022"/>
            <a:ext cx="5190753" cy="187054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7036" y="1098612"/>
            <a:ext cx="189384" cy="1893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9953" y="1094705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Load &amp; Explore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409953" y="1404417"/>
            <a:ext cx="2242617" cy="209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Pandas: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&amp;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7036" y="1843199"/>
            <a:ext cx="189384" cy="1893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9953" y="1839292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Clean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409953" y="2149004"/>
            <a:ext cx="224261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Imputed missing ratings by category median; standardized column names</a:t>
            </a:r>
            <a:endParaRPr lang="en-US" sz="9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47036" y="2759683"/>
            <a:ext cx="189384" cy="1893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09953" y="2755776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Engineer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409953" y="3065487"/>
            <a:ext cx="2242617" cy="629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Created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&amp;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; dropped redundant 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47036" y="3924263"/>
            <a:ext cx="189384" cy="1893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409953" y="3920356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Load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409953" y="4230067"/>
            <a:ext cx="224261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Connected to BigQuery; uploaded clean dataframe for SQL analysis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2048"/>
            <a:ext cx="5287938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SQL Analysis: Revenue &amp; Discounts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1439317" y="2217911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Revenue by Gender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45" y="2541687"/>
            <a:ext cx="3045991" cy="6154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03131" y="1107653"/>
            <a:ext cx="2577182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High-Spending Discount Users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137" y="1431429"/>
            <a:ext cx="2185095" cy="28360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6119" y="4520505"/>
            <a:ext cx="8608963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Compared total revenue by gender and identified discount users who spent above average purchase amount.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13495"/>
            <a:ext cx="577259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SQL Analysis: Products &amp; Shipping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415" y="2228552"/>
            <a:ext cx="1809750" cy="7667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846" y="3154784"/>
            <a:ext cx="238288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Top 5 Products by Rating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713" y="2228552"/>
            <a:ext cx="1885950" cy="3333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04939" y="2721397"/>
            <a:ext cx="274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Standard vs Express Shipping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379" y="2228552"/>
            <a:ext cx="1833562" cy="7572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98989" y="3145259"/>
            <a:ext cx="245834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Top 5 Discount-Dependent Products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92956"/>
            <a:ext cx="636865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SQL Analysis: Subscribers &amp; Segments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571824"/>
            <a:ext cx="5177582" cy="65536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24339" y="1608013"/>
            <a:ext cx="2628230" cy="1331342"/>
          </a:xfrm>
          <a:prstGeom prst="roundRect">
            <a:avLst>
              <a:gd name="adj" fmla="val 4472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70861" y="1754535"/>
            <a:ext cx="233518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Subscribers vs Non-Subscribers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170861" y="2339206"/>
            <a:ext cx="23351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Compared average spend &amp; total revenue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024339" y="3081114"/>
            <a:ext cx="2628230" cy="1109886"/>
          </a:xfrm>
          <a:prstGeom prst="roundRect">
            <a:avLst>
              <a:gd name="adj" fmla="val 5365"/>
            </a:avLst>
          </a:prstGeom>
          <a:solidFill>
            <a:srgbClr val="DFECE9"/>
          </a:solidFill>
          <a:ln w="4763">
            <a:solidFill>
              <a:srgbClr val="C5D2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70861" y="3227636"/>
            <a:ext cx="18919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Customer Segmentation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170861" y="3590851"/>
            <a:ext cx="233518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New · Returning · Loyal — based on purchase history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33413"/>
            <a:ext cx="771525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SQL Analysis: Categories, Repeat Buyers &amp; Age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48470"/>
            <a:ext cx="2458343" cy="13389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546872"/>
            <a:ext cx="26567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Top 3 Products per Category</a:t>
            </a:r>
            <a:endParaRPr lang="en-US" sz="13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101" y="2048470"/>
            <a:ext cx="1533525" cy="3619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305101" y="2569890"/>
            <a:ext cx="284656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Repeat Buyers &amp; Subscriptions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3305101" y="2933105"/>
            <a:ext cx="254324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Customers with 5+ purchases more likely to subscribe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989" y="2048470"/>
            <a:ext cx="1462088" cy="609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98989" y="281754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Revenue by Age Group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398859"/>
            <a:ext cx="5650483" cy="30849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683273"/>
            <a:ext cx="389059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PowerBI Dashboard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96119" y="4311923"/>
            <a:ext cx="815176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 interactive dashboard built to present all key insights visually — enabling stakeholders to explore revenue, segments, and product performance at a glance.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44488"/>
            <a:ext cx="483676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70993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19196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2226171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870993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33130" y="19196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Loyalty Program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733130" y="2226171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Reward repeat buyers to grow loyal segment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870993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09445" y="1919660"/>
            <a:ext cx="178861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09445" y="2226171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Balance sales boosts with margin control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963317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6816" y="30119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56816" y="3318495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Focus on high-revenue age groups &amp; express shipping users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2963317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33130" y="30119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733130" y="3318495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Highlight top-rated &amp; best-selling products in campaigns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2026-06-18T08:50:44Z</dcterms:created>
  <dcterms:modified xsi:type="dcterms:W3CDTF">2026-06-18T08:50:44Z</dcterms:modified>
</cp:coreProperties>
</file>